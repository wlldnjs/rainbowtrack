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3" r:id="rId4"/>
    <p:sldId id="269" r:id="rId5"/>
    <p:sldId id="259" r:id="rId6"/>
    <p:sldId id="261" r:id="rId7"/>
    <p:sldId id="266" r:id="rId8"/>
    <p:sldId id="270" r:id="rId9"/>
    <p:sldId id="271" r:id="rId10"/>
    <p:sldId id="272" r:id="rId11"/>
    <p:sldId id="264" r:id="rId12"/>
    <p:sldId id="262" r:id="rId13"/>
    <p:sldId id="265" r:id="rId14"/>
    <p:sldId id="267" r:id="rId15"/>
    <p:sldId id="278" r:id="rId16"/>
    <p:sldId id="279" r:id="rId17"/>
    <p:sldId id="273" r:id="rId18"/>
    <p:sldId id="268" r:id="rId19"/>
    <p:sldId id="274" r:id="rId20"/>
    <p:sldId id="282" r:id="rId21"/>
    <p:sldId id="275" r:id="rId22"/>
    <p:sldId id="280" r:id="rId23"/>
  </p:sldIdLst>
  <p:sldSz cx="12192000" cy="6858000"/>
  <p:notesSz cx="6858000" cy="9144000"/>
  <p:embeddedFontLst>
    <p:embeddedFont>
      <p:font typeface="-윤고딕350" panose="02030504000101010101" pitchFamily="18" charset="-127"/>
      <p:regular r:id="rId25"/>
    </p:embeddedFont>
    <p:embeddedFont>
      <p:font typeface="맑은 고딕" panose="020B0503020000020004" pitchFamily="50" charset="-127"/>
      <p:regular r:id="rId26"/>
      <p:bold r:id="rId27"/>
    </p:embeddedFont>
    <p:embeddedFont>
      <p:font typeface="-윤고딕330" panose="02030504000101010101" pitchFamily="18" charset="-127"/>
      <p:regular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85" autoAdjust="0"/>
    <p:restoredTop sz="94660"/>
  </p:normalViewPr>
  <p:slideViewPr>
    <p:cSldViewPr snapToGrid="0">
      <p:cViewPr varScale="1">
        <p:scale>
          <a:sx n="89" d="100"/>
          <a:sy n="89" d="100"/>
        </p:scale>
        <p:origin x="66" y="-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16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2B856-CCCB-4B77-AB1A-09EB0244EE44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15BB1-7DCA-415A-A14B-1FBEB52F6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33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5366"/>
            <a:ext cx="10073898" cy="4982705"/>
          </a:xfrm>
          <a:prstGeom prst="rect">
            <a:avLst/>
          </a:prstGeom>
        </p:spPr>
      </p:pic>
      <p:sp>
        <p:nvSpPr>
          <p:cNvPr id="10" name="직사각형 9"/>
          <p:cNvSpPr/>
          <p:nvPr userDrawn="1"/>
        </p:nvSpPr>
        <p:spPr>
          <a:xfrm rot="1800000">
            <a:off x="7769103" y="1189893"/>
            <a:ext cx="4467343" cy="62590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343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100000">
            <a:off x="8274636" y="2203260"/>
            <a:ext cx="7444688" cy="2719953"/>
          </a:xfrm>
          <a:prstGeom prst="rect">
            <a:avLst/>
          </a:prstGeom>
          <a:noFill/>
        </p:spPr>
      </p:pic>
      <p:sp>
        <p:nvSpPr>
          <p:cNvPr id="8" name="직사각형 7"/>
          <p:cNvSpPr/>
          <p:nvPr userDrawn="1"/>
        </p:nvSpPr>
        <p:spPr>
          <a:xfrm>
            <a:off x="966951" y="557048"/>
            <a:ext cx="472966" cy="84083"/>
          </a:xfrm>
          <a:prstGeom prst="rect">
            <a:avLst/>
          </a:prstGeom>
          <a:solidFill>
            <a:srgbClr val="F543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160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3304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908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3767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42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13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42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56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47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66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DFFC3-3209-4F02-BC65-151BCF264BD6}" type="datetimeFigureOut">
              <a:rPr lang="ko-KR" altLang="en-US" smtClean="0"/>
              <a:t>2017-05-08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B87BF-04EB-4127-8FEC-B7A5857C3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66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929968" y="2899387"/>
            <a:ext cx="4045058" cy="921743"/>
          </a:xfrm>
        </p:spPr>
        <p:txBody>
          <a:bodyPr>
            <a:noAutofit/>
          </a:bodyPr>
          <a:lstStyle/>
          <a:p>
            <a:r>
              <a:rPr lang="en-US" altLang="ko-KR" sz="4400" dirty="0" err="1" smtClean="0">
                <a:latin typeface="-윤고딕350" panose="02030504000101010101" pitchFamily="18" charset="-127"/>
                <a:ea typeface="-윤고딕350" panose="02030504000101010101" pitchFamily="18" charset="-127"/>
              </a:rPr>
              <a:t>RainbowTrack</a:t>
            </a:r>
            <a:endParaRPr lang="ko-KR" altLang="en-US" sz="4400" dirty="0">
              <a:latin typeface="-윤고딕350" panose="02030504000101010101" pitchFamily="18" charset="-127"/>
              <a:ea typeface="-윤고딕350" panose="020305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21113" y="5362413"/>
            <a:ext cx="368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윤진성 김지원 박형준 백인호 이영찬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14470" y="3713845"/>
            <a:ext cx="4223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chemeClr val="bg2">
                    <a:lumMod val="75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Music Communication &amp; Social Networking</a:t>
            </a:r>
            <a:endParaRPr lang="ko-KR" altLang="en-US" sz="1600" dirty="0">
              <a:solidFill>
                <a:schemeClr val="bg2">
                  <a:lumMod val="75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267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프로젝트 개요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개발 환경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개발 계</a:t>
            </a:r>
            <a:r>
              <a:rPr lang="ko-KR" altLang="en-US" dirty="0"/>
              <a:t>획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593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744" y="2705368"/>
            <a:ext cx="10515600" cy="1325563"/>
          </a:xfrm>
        </p:spPr>
        <p:txBody>
          <a:bodyPr/>
          <a:lstStyle/>
          <a:p>
            <a:pPr algn="ctr"/>
            <a:r>
              <a:rPr lang="ko-KR" altLang="en-US" smtClean="0"/>
              <a:t>프로젝트 개요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725214" y="357352"/>
            <a:ext cx="987972" cy="557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4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프로젝트 주제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구상 계기</a:t>
            </a:r>
            <a:endParaRPr lang="en-US" altLang="ko-KR" dirty="0" smtClean="0"/>
          </a:p>
          <a:p>
            <a:pPr lvl="1">
              <a:lnSpc>
                <a:spcPct val="100000"/>
              </a:lnSpc>
            </a:pPr>
            <a:r>
              <a:rPr lang="ko-KR" altLang="en-US" dirty="0" smtClean="0"/>
              <a:t>아이디어 구상 회의에서 중고 거래 사이트와 음악 공유 사이트</a:t>
            </a:r>
            <a:r>
              <a:rPr lang="en-US" altLang="ko-KR" dirty="0" smtClean="0"/>
              <a:t>,		 </a:t>
            </a:r>
            <a:r>
              <a:rPr lang="ko-KR" altLang="en-US" dirty="0" smtClean="0"/>
              <a:t>두 개의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주제가 나옴</a:t>
            </a:r>
            <a:r>
              <a:rPr lang="en-US" altLang="ko-KR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 smtClean="0"/>
              <a:t>여러 번의 회의를 거쳐 음악 공유 사이트를 만들어 보기로 결정</a:t>
            </a:r>
            <a:r>
              <a:rPr lang="en-US" altLang="ko-KR" dirty="0" smtClean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dirty="0" smtClean="0"/>
              <a:t>음악만 공유 할 수 있는 것이 아닌 </a:t>
            </a:r>
            <a:r>
              <a:rPr lang="en-US" altLang="ko-KR" dirty="0" smtClean="0"/>
              <a:t>Playlist</a:t>
            </a:r>
            <a:r>
              <a:rPr lang="ko-KR" altLang="en-US" dirty="0" smtClean="0"/>
              <a:t>를 통해 자신이 듣고 싶은</a:t>
            </a:r>
            <a:r>
              <a:rPr lang="en-US" altLang="ko-KR" dirty="0" smtClean="0"/>
              <a:t>	</a:t>
            </a:r>
            <a:r>
              <a:rPr lang="ko-KR" altLang="en-US" dirty="0" smtClean="0"/>
              <a:t> 음악을 들을 수 있고</a:t>
            </a:r>
            <a:r>
              <a:rPr lang="en-US" altLang="ko-KR" dirty="0" smtClean="0"/>
              <a:t>, Comment</a:t>
            </a:r>
            <a:r>
              <a:rPr lang="ko-KR" altLang="en-US" dirty="0" smtClean="0"/>
              <a:t>를</a:t>
            </a:r>
            <a:r>
              <a:rPr lang="en-US" altLang="ko-KR" dirty="0"/>
              <a:t> </a:t>
            </a:r>
            <a:r>
              <a:rPr lang="ko-KR" altLang="en-US" dirty="0" smtClean="0"/>
              <a:t>통해 다른 사용자와 소통 할 수</a:t>
            </a:r>
            <a:r>
              <a:rPr lang="en-US" altLang="ko-KR" dirty="0" smtClean="0"/>
              <a:t>		</a:t>
            </a:r>
            <a:r>
              <a:rPr lang="ko-KR" altLang="en-US" dirty="0" smtClean="0"/>
              <a:t> 있는 소통의 장을 만들고자 함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570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RainbowTrack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400" dirty="0" smtClean="0"/>
              <a:t>좋아하는 곡을 세상 모두와 공유 할 수 있는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음악 공유 플랫폼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 smtClean="0"/>
              <a:t>곡에 대한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Comment</a:t>
            </a:r>
            <a:r>
              <a:rPr lang="ko-KR" altLang="en-US" sz="2400" dirty="0" smtClean="0"/>
              <a:t>를 직접 작성하여 여러 사람들과 공유</a:t>
            </a:r>
            <a:r>
              <a:rPr lang="en-US" altLang="ko-K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 smtClean="0"/>
              <a:t>다른 사람이 올린 음악을 담을 수 있는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좋아요</a:t>
            </a:r>
            <a:r>
              <a:rPr lang="ko-KR" altLang="en-US" sz="2400" dirty="0" smtClean="0"/>
              <a:t> 기능</a:t>
            </a:r>
            <a:r>
              <a:rPr lang="en-US" altLang="ko-K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 smtClean="0"/>
              <a:t>담은 음악을 언제든지 쉽게 들을 수 있는 </a:t>
            </a:r>
            <a:r>
              <a:rPr lang="en-US" altLang="ko-KR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PlayList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기능</a:t>
            </a:r>
            <a:r>
              <a:rPr lang="en-US" altLang="ko-KR" sz="24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48741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 smtClean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66819" y="3996862"/>
            <a:ext cx="5858359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Rainbow + Track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세상의 여러 감성을 가진 사람들을 뜻하는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Rainbow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와</a:t>
            </a:r>
          </a:p>
          <a:p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그 사람들의 흔적과 개성을 뜻하는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Track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을 결합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722" y="1943192"/>
            <a:ext cx="3426551" cy="2421375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 smtClean="0"/>
              <a:t>RainbowTrack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930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Main, Sub Color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4785" y="4490660"/>
            <a:ext cx="4087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음악을 공유하고 소통하는 </a:t>
            </a:r>
            <a:r>
              <a:rPr lang="en-US" altLang="ko-KR" dirty="0" err="1" smtClean="0"/>
              <a:t>SoundTrack</a:t>
            </a:r>
            <a:r>
              <a:rPr lang="ko-KR" altLang="en-US" dirty="0" smtClean="0"/>
              <a:t> 특성상 사회적인 이미지가 강하기 때문에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주황색 계열의 색상을 </a:t>
            </a:r>
            <a:r>
              <a:rPr lang="en-US" altLang="ko-KR" dirty="0" err="1" smtClean="0"/>
              <a:t>MainColor</a:t>
            </a:r>
            <a:r>
              <a:rPr lang="ko-KR" altLang="en-US" dirty="0" smtClean="0"/>
              <a:t>로 정함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478" y="2468145"/>
            <a:ext cx="1016000" cy="1016000"/>
          </a:xfrm>
          <a:solidFill>
            <a:srgbClr val="F54337"/>
          </a:solidFill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085" y="2482301"/>
            <a:ext cx="1016000" cy="101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01700" y="3669674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&lt;Main Color&gt;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942390" y="3669674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&lt;Sub Color&gt;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611392" y="4490660"/>
            <a:ext cx="4087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모던한 느낌과 도시적인 느낌을 나타내기 위해 회색 계열의 색상을 </a:t>
            </a:r>
            <a:r>
              <a:rPr lang="en-US" altLang="ko-KR" dirty="0" err="1" smtClean="0"/>
              <a:t>SubColor</a:t>
            </a:r>
            <a:r>
              <a:rPr lang="ko-KR" altLang="en-US" dirty="0" smtClean="0"/>
              <a:t>로 정했으며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딱딱한 느낌을 피하기 위해 채도를 높여 부드러운 느낌을 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395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유사 사이트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601540" cy="3408254"/>
          </a:xfrm>
        </p:spPr>
      </p:pic>
      <p:sp>
        <p:nvSpPr>
          <p:cNvPr id="7" name="TextBox 6"/>
          <p:cNvSpPr txBox="1"/>
          <p:nvPr/>
        </p:nvSpPr>
        <p:spPr>
          <a:xfrm>
            <a:off x="838200" y="5625884"/>
            <a:ext cx="909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SoundCloud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온라인 음악 유통 플랫폼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원하는 음악을 검색하고 들어볼 수 있다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dirty="0" smtClean="0">
                <a:solidFill>
                  <a:schemeClr val="bg2">
                    <a:lumMod val="50000"/>
                  </a:schemeClr>
                </a:solidFill>
              </a:rPr>
              <a:t>(https://soundcloud.com/)</a:t>
            </a:r>
          </a:p>
        </p:txBody>
      </p:sp>
    </p:spTree>
    <p:extLst>
      <p:ext uri="{BB962C8B-B14F-4D97-AF65-F5344CB8AC3E}">
        <p14:creationId xmlns:p14="http://schemas.microsoft.com/office/powerpoint/2010/main" val="126167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유사 사이트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5625884"/>
            <a:ext cx="909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멜론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온라인 음악서비스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플레이어 다운로드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최신음악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순위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인기가요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mp3,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뮤직비디오 등 제공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						         </a:t>
            </a:r>
            <a:r>
              <a:rPr lang="en-US" altLang="ko-KR" dirty="0" smtClean="0">
                <a:solidFill>
                  <a:schemeClr val="bg2">
                    <a:lumMod val="50000"/>
                  </a:schemeClr>
                </a:solidFill>
              </a:rPr>
              <a:t>(https://www.melon.com/)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2774"/>
            <a:ext cx="6601540" cy="339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1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사이트 비교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984752"/>
              </p:ext>
            </p:extLst>
          </p:nvPr>
        </p:nvGraphicFramePr>
        <p:xfrm>
          <a:off x="1045410" y="1922824"/>
          <a:ext cx="8128000" cy="29667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/>
                        <a:t>Sound Cloud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/>
                        <a:t>Melon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/>
                        <a:t>RainbowTrack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/>
                        <a:t>음원</a:t>
                      </a:r>
                      <a:r>
                        <a:rPr lang="ko-KR" altLang="en-US" dirty="0" smtClean="0"/>
                        <a:t> 다운로드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X</a:t>
                      </a:r>
                      <a:endParaRPr lang="ko-KR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실시간 </a:t>
                      </a:r>
                      <a:r>
                        <a:rPr lang="ko-KR" altLang="en-US" dirty="0" err="1" smtClean="0"/>
                        <a:t>스트리밍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Playlist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SNS </a:t>
                      </a:r>
                      <a:r>
                        <a:rPr lang="ko-KR" altLang="en-US" dirty="0" smtClean="0"/>
                        <a:t>기능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음악 검색기능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인기순위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해시태그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○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82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744" y="270536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개발 환경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725214" y="357352"/>
            <a:ext cx="987972" cy="557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8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언어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 smtClean="0"/>
              <a:t> 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7" y="1597700"/>
            <a:ext cx="1847769" cy="196743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023" y="2735130"/>
            <a:ext cx="3293080" cy="192953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255" y="2469722"/>
            <a:ext cx="2194947" cy="219494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37" y="4086745"/>
            <a:ext cx="1892569" cy="18925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4697" y="3381219"/>
            <a:ext cx="1699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Java Enterprise Edition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5240" y="6114251"/>
            <a:ext cx="2025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JSP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17477" y="4594568"/>
            <a:ext cx="230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HTML CSS </a:t>
            </a:r>
            <a:r>
              <a:rPr lang="en-US" altLang="ko-KR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JavaSctipt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8025" y="4594568"/>
            <a:ext cx="1339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Oracle SQL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6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도구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 smtClean="0"/>
              <a:t> 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974" y="1395312"/>
            <a:ext cx="2194947" cy="21949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1988" y="3491934"/>
            <a:ext cx="1699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Eclipse EE edition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26155" y="6049635"/>
            <a:ext cx="2025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Apache Tomcat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81352" y="6049635"/>
            <a:ext cx="2304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Adobe Photoshop &amp; Illustration CS6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11744" y="3520158"/>
            <a:ext cx="1339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Oracle Database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67" y="2129693"/>
            <a:ext cx="3749540" cy="88114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367" y="1527596"/>
            <a:ext cx="1909596" cy="19095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84463" y="3504660"/>
            <a:ext cx="1339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SQL Developer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700" y="4119742"/>
            <a:ext cx="1864873" cy="185590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446" y="4459532"/>
            <a:ext cx="1269841" cy="1269841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438" y="4459533"/>
            <a:ext cx="1269841" cy="126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72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744" y="270536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개발 계획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725214" y="357352"/>
            <a:ext cx="987972" cy="557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81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계획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 smtClean="0"/>
              <a:t>MVC Pattern Model2 </a:t>
            </a:r>
            <a:r>
              <a:rPr lang="ko-KR" altLang="en-US" dirty="0" smtClean="0"/>
              <a:t>방식을 </a:t>
            </a:r>
            <a:r>
              <a:rPr lang="ko-KR" altLang="en-US" dirty="0" smtClean="0"/>
              <a:t>이용하여 </a:t>
            </a:r>
            <a:r>
              <a:rPr lang="en-US" altLang="ko-KR" dirty="0" smtClean="0"/>
              <a:t>Model, View, </a:t>
            </a: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en-US" altLang="ko-KR" dirty="0" smtClean="0"/>
              <a:t>Controller</a:t>
            </a:r>
            <a:r>
              <a:rPr lang="ko-KR" altLang="en-US" dirty="0" smtClean="0"/>
              <a:t>를 </a:t>
            </a:r>
            <a:r>
              <a:rPr lang="ko-KR" altLang="en-US" dirty="0" smtClean="0"/>
              <a:t>나누어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개발</a:t>
            </a:r>
            <a:endParaRPr lang="en-US" altLang="ko-KR" dirty="0" smtClean="0"/>
          </a:p>
          <a:p>
            <a:pPr>
              <a:lnSpc>
                <a:spcPct val="100000"/>
              </a:lnSpc>
            </a:pPr>
            <a:r>
              <a:rPr lang="ko-KR" altLang="en-US" dirty="0"/>
              <a:t>기능별 </a:t>
            </a:r>
            <a:r>
              <a:rPr lang="en-US" altLang="ko-KR" dirty="0"/>
              <a:t>Java </a:t>
            </a:r>
            <a:r>
              <a:rPr lang="ko-KR" altLang="en-US" dirty="0"/>
              <a:t>패키지 분류</a:t>
            </a:r>
            <a:r>
              <a:rPr lang="en-US" altLang="ko-KR" dirty="0"/>
              <a:t>					    Bean(DTO), Dao, Controller, Service, DB Connection, </a:t>
            </a:r>
            <a:r>
              <a:rPr lang="en-US" altLang="ko-KR" dirty="0" err="1" smtClean="0"/>
              <a:t>Util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 smtClean="0"/>
              <a:t>화면 및 기능별 </a:t>
            </a:r>
            <a:r>
              <a:rPr lang="en-US" altLang="ko-KR" dirty="0" err="1" smtClean="0"/>
              <a:t>WebContent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 분류</a:t>
            </a:r>
            <a:r>
              <a:rPr lang="en-US" altLang="ko-KR" dirty="0" smtClean="0"/>
              <a:t>				</a:t>
            </a:r>
            <a:r>
              <a:rPr lang="en-US" altLang="ko-KR" dirty="0"/>
              <a:t> </a:t>
            </a:r>
            <a:r>
              <a:rPr lang="en-US" altLang="ko-KR" dirty="0" smtClean="0"/>
              <a:t>   Error page, CSS, HTML, Images, JSP</a:t>
            </a:r>
          </a:p>
          <a:p>
            <a:pPr>
              <a:lnSpc>
                <a:spcPct val="150000"/>
              </a:lnSpc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41831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기능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담벼락 글쓰기 기능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err="1" smtClean="0"/>
              <a:t>게시글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댓글쓰기</a:t>
            </a:r>
            <a:r>
              <a:rPr lang="ko-KR" altLang="en-US" dirty="0" smtClean="0"/>
              <a:t> 기능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Following &amp; Follower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Playlist</a:t>
            </a:r>
            <a:r>
              <a:rPr lang="ko-KR" altLang="en-US" dirty="0" smtClean="0"/>
              <a:t>를 이용한 </a:t>
            </a:r>
            <a:r>
              <a:rPr lang="ko-KR" altLang="en-US" dirty="0" err="1" smtClean="0"/>
              <a:t>스트리밍</a:t>
            </a:r>
            <a:r>
              <a:rPr lang="ko-KR" altLang="en-US" dirty="0" smtClean="0"/>
              <a:t> 기능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좋아요 기능을 통한 </a:t>
            </a:r>
            <a:r>
              <a:rPr lang="ko-KR" altLang="en-US" dirty="0" err="1" smtClean="0"/>
              <a:t>게시글</a:t>
            </a:r>
            <a:r>
              <a:rPr lang="ko-KR" altLang="en-US" dirty="0" smtClean="0"/>
              <a:t> 담아두기 기능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err="1" smtClean="0"/>
              <a:t>HashTag</a:t>
            </a:r>
            <a:r>
              <a:rPr lang="ko-KR" altLang="en-US" dirty="0" smtClean="0"/>
              <a:t>를 이용한 게시물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음악 검색 기능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218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인력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팀</a:t>
            </a:r>
            <a:r>
              <a:rPr lang="ko-KR" altLang="en-US" dirty="0" smtClean="0"/>
              <a:t>장 윤진성</a:t>
            </a:r>
            <a:r>
              <a:rPr lang="en-US" altLang="ko-KR" dirty="0" smtClean="0"/>
              <a:t>,</a:t>
            </a:r>
            <a:r>
              <a:rPr lang="ko-KR" altLang="en-US" dirty="0" smtClean="0"/>
              <a:t> 팀원</a:t>
            </a:r>
            <a:r>
              <a:rPr lang="en-US" altLang="ko-KR" dirty="0" smtClean="0"/>
              <a:t> </a:t>
            </a:r>
            <a:r>
              <a:rPr lang="ko-KR" altLang="en-US" dirty="0"/>
              <a:t>김지원</a:t>
            </a:r>
            <a:r>
              <a:rPr lang="en-US" altLang="ko-KR" dirty="0"/>
              <a:t>, </a:t>
            </a:r>
            <a:r>
              <a:rPr lang="ko-KR" altLang="en-US" dirty="0"/>
              <a:t>박형준</a:t>
            </a:r>
            <a:r>
              <a:rPr lang="en-US" altLang="ko-KR" dirty="0"/>
              <a:t>, </a:t>
            </a:r>
            <a:r>
              <a:rPr lang="ko-KR" altLang="en-US" dirty="0" smtClean="0"/>
              <a:t>백인호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이영찬 </a:t>
            </a:r>
            <a:r>
              <a:rPr lang="en-US" altLang="ko-KR" dirty="0" smtClean="0"/>
              <a:t>		       </a:t>
            </a:r>
            <a:r>
              <a:rPr lang="ko-KR" altLang="en-US" dirty="0" smtClean="0"/>
              <a:t>총 </a:t>
            </a:r>
            <a:r>
              <a:rPr lang="en-US" altLang="ko-KR" dirty="0" smtClean="0"/>
              <a:t>5</a:t>
            </a:r>
            <a:r>
              <a:rPr lang="ko-KR" altLang="en-US" dirty="0" smtClean="0"/>
              <a:t>명으로 구성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팀장이 각자의 역량에 따라 작업을 분배</a:t>
            </a:r>
            <a:r>
              <a:rPr lang="en-US" altLang="ko-KR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 smtClean="0"/>
              <a:t>크게 </a:t>
            </a:r>
            <a:r>
              <a:rPr lang="en-US" altLang="ko-KR" dirty="0" smtClean="0"/>
              <a:t>Java</a:t>
            </a:r>
            <a:r>
              <a:rPr lang="ko-KR" altLang="en-US" dirty="0" smtClean="0"/>
              <a:t>개발과 </a:t>
            </a:r>
            <a:r>
              <a:rPr lang="en-US" altLang="ko-KR" dirty="0" smtClean="0"/>
              <a:t>DB</a:t>
            </a:r>
            <a:r>
              <a:rPr lang="ko-KR" altLang="en-US" dirty="0" smtClean="0"/>
              <a:t>관리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JSP, CSS, JavaScript</a:t>
            </a:r>
            <a:r>
              <a:rPr lang="ko-KR" altLang="en-US" dirty="0" smtClean="0"/>
              <a:t>로 역할을  </a:t>
            </a:r>
            <a:r>
              <a:rPr lang="en-US" altLang="ko-KR" dirty="0"/>
              <a:t> </a:t>
            </a:r>
            <a:r>
              <a:rPr lang="en-US" altLang="ko-KR" dirty="0" smtClean="0"/>
              <a:t>      </a:t>
            </a:r>
            <a:r>
              <a:rPr lang="ko-KR" altLang="en-US" dirty="0" smtClean="0"/>
              <a:t>나누었으며 최소 한번씩은 각 </a:t>
            </a:r>
            <a:r>
              <a:rPr lang="ko-KR" altLang="en-US" dirty="0" err="1" smtClean="0"/>
              <a:t>파트별로</a:t>
            </a:r>
            <a:r>
              <a:rPr lang="ko-KR" altLang="en-US" dirty="0" smtClean="0"/>
              <a:t> 개발 해 볼 수 있도록 </a:t>
            </a:r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권장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2767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일정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471736"/>
              </p:ext>
            </p:extLst>
          </p:nvPr>
        </p:nvGraphicFramePr>
        <p:xfrm>
          <a:off x="970676" y="1690692"/>
          <a:ext cx="8141790" cy="39954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918445"/>
                <a:gridCol w="348223"/>
                <a:gridCol w="348223"/>
                <a:gridCol w="348223"/>
                <a:gridCol w="348223"/>
                <a:gridCol w="348223"/>
                <a:gridCol w="348223"/>
                <a:gridCol w="348223"/>
                <a:gridCol w="348223"/>
                <a:gridCol w="348223"/>
                <a:gridCol w="348223"/>
                <a:gridCol w="348223"/>
                <a:gridCol w="348223"/>
                <a:gridCol w="348223"/>
                <a:gridCol w="348223"/>
                <a:gridCol w="348223"/>
              </a:tblGrid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4/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13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16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18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19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아이디어 회의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Database </a:t>
                      </a:r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구상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Database </a:t>
                      </a:r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설계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  <a:latin typeface="+mn-ea"/>
                          <a:ea typeface="+mn-ea"/>
                        </a:rPr>
                        <a:t>제안서 작성 및 기획서 구상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  <a:latin typeface="+mn-ea"/>
                          <a:ea typeface="+mn-ea"/>
                        </a:rPr>
                        <a:t>인덱스 화면구성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  <a:latin typeface="+mn-ea"/>
                          <a:ea typeface="+mn-ea"/>
                        </a:rPr>
                        <a:t>회원가입 폼페이지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 smtClean="0">
                          <a:effectLst/>
                          <a:latin typeface="+mn-ea"/>
                          <a:ea typeface="+mn-ea"/>
                        </a:rPr>
                        <a:t>회원가입 기능 구현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u="none" strike="noStrike" dirty="0" smtClean="0">
                          <a:effectLst/>
                          <a:latin typeface="+mn-ea"/>
                          <a:ea typeface="+mn-ea"/>
                        </a:rPr>
                        <a:t>로그인 </a:t>
                      </a:r>
                      <a:r>
                        <a:rPr lang="ko-KR" altLang="en-US" sz="1500" u="none" strike="noStrike" dirty="0" err="1" smtClean="0">
                          <a:effectLst/>
                          <a:latin typeface="+mn-ea"/>
                          <a:ea typeface="+mn-ea"/>
                        </a:rPr>
                        <a:t>폼페이지</a:t>
                      </a:r>
                      <a:endParaRPr lang="ko-KR" altLang="en-US" sz="15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  <a:latin typeface="+mn-ea"/>
                          <a:ea typeface="+mn-ea"/>
                        </a:rPr>
                        <a:t>로그인 기능 구현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  <a:latin typeface="+mn-ea"/>
                          <a:ea typeface="+mn-ea"/>
                        </a:rPr>
                        <a:t>메인화면 구성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  <a:latin typeface="+mn-ea"/>
                          <a:ea typeface="+mn-ea"/>
                        </a:rPr>
                        <a:t>글쓰기 폼 구성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  <a:latin typeface="+mn-ea"/>
                          <a:ea typeface="+mn-ea"/>
                        </a:rPr>
                        <a:t>게시글 폼 구성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  <a:latin typeface="+mn-ea"/>
                          <a:ea typeface="+mn-ea"/>
                        </a:rPr>
                        <a:t>담벼락 글쓰기 기능 구현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  <a:tr h="266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담벼락 글 불러오기 기능 구현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255" marR="13255" marT="1325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80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277999"/>
              </p:ext>
            </p:extLst>
          </p:nvPr>
        </p:nvGraphicFramePr>
        <p:xfrm>
          <a:off x="977249" y="1690688"/>
          <a:ext cx="9194584" cy="398490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03611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  <a:gridCol w="362263"/>
              </a:tblGrid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500" u="none" strike="noStrike" dirty="0">
                          <a:effectLst/>
                        </a:rPr>
                        <a:t>4/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 dirty="0">
                          <a:effectLst/>
                        </a:rPr>
                        <a:t>15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16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17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18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19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20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21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 dirty="0">
                          <a:effectLst/>
                        </a:rPr>
                        <a:t>22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23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24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25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26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27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28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 dirty="0">
                          <a:effectLst/>
                        </a:rPr>
                        <a:t>29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30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500" u="none" strike="noStrike">
                          <a:effectLst/>
                        </a:rPr>
                        <a:t>5/1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 err="1">
                          <a:effectLst/>
                        </a:rPr>
                        <a:t>댓글</a:t>
                      </a:r>
                      <a:r>
                        <a:rPr lang="ko-KR" altLang="en-US" sz="1500" u="none" strike="noStrike" dirty="0">
                          <a:effectLst/>
                        </a:rPr>
                        <a:t> 폼 구성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담벼락 </a:t>
                      </a:r>
                      <a:r>
                        <a:rPr lang="ko-KR" altLang="en-US" sz="1500" u="none" strike="noStrike" dirty="0" err="1">
                          <a:effectLst/>
                        </a:rPr>
                        <a:t>댓글</a:t>
                      </a:r>
                      <a:r>
                        <a:rPr lang="ko-KR" altLang="en-US" sz="1500" u="none" strike="noStrike" dirty="0">
                          <a:effectLst/>
                        </a:rPr>
                        <a:t> 기능 구현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</a:rPr>
                        <a:t>　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메뉴 구성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</a:rPr>
                        <a:t>　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</a:rPr>
                        <a:t>Playlist </a:t>
                      </a:r>
                      <a:r>
                        <a:rPr lang="ko-KR" altLang="en-US" sz="1500" u="none" strike="noStrike" dirty="0">
                          <a:effectLst/>
                        </a:rPr>
                        <a:t>화면 구성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</a:rPr>
                        <a:t>　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</a:rPr>
                        <a:t>Playlist </a:t>
                      </a:r>
                      <a:r>
                        <a:rPr lang="ko-KR" altLang="en-US" sz="1500" u="none" strike="noStrike" dirty="0">
                          <a:effectLst/>
                        </a:rPr>
                        <a:t>기능 구현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좋아요 확인 화면 구성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좋아요 기능 구현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 err="1">
                          <a:effectLst/>
                        </a:rPr>
                        <a:t>팔로우</a:t>
                      </a:r>
                      <a:r>
                        <a:rPr lang="en-US" altLang="ko-KR" sz="1500" u="none" strike="noStrike" dirty="0">
                          <a:effectLst/>
                        </a:rPr>
                        <a:t>&amp;</a:t>
                      </a:r>
                      <a:r>
                        <a:rPr lang="ko-KR" altLang="en-US" sz="1500" u="none" strike="noStrike" dirty="0" err="1">
                          <a:effectLst/>
                        </a:rPr>
                        <a:t>팔로워</a:t>
                      </a:r>
                      <a:r>
                        <a:rPr lang="ko-KR" altLang="en-US" sz="1500" u="none" strike="noStrike" dirty="0">
                          <a:effectLst/>
                        </a:rPr>
                        <a:t> 확인 화면 구성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 err="1">
                          <a:effectLst/>
                        </a:rPr>
                        <a:t>팔로우</a:t>
                      </a:r>
                      <a:r>
                        <a:rPr lang="en-US" altLang="ko-KR" sz="1500" u="none" strike="noStrike" dirty="0">
                          <a:effectLst/>
                        </a:rPr>
                        <a:t>&amp;</a:t>
                      </a:r>
                      <a:r>
                        <a:rPr lang="ko-KR" altLang="en-US" sz="1500" u="none" strike="noStrike" dirty="0" err="1">
                          <a:effectLst/>
                        </a:rPr>
                        <a:t>팔로워</a:t>
                      </a:r>
                      <a:r>
                        <a:rPr lang="ko-KR" altLang="en-US" sz="1500" u="none" strike="noStrike" dirty="0">
                          <a:effectLst/>
                        </a:rPr>
                        <a:t> 기능 구현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검색 결과화면 구성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해시태그 검색기능 구현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테스트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</a:rPr>
                        <a:t>　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</a:tr>
              <a:tr h="2846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기획서 작성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</a:rPr>
                        <a:t>　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</a:rPr>
                        <a:t>　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>
                          <a:effectLst/>
                        </a:rPr>
                        <a:t>　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38" marR="12938" marT="12938" marB="0" anchor="ctr">
                    <a:solidFill>
                      <a:srgbClr val="F54337"/>
                    </a:solidFill>
                  </a:tcPr>
                </a:tc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743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WorkFlow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946383" y="2021535"/>
            <a:ext cx="8845998" cy="4790769"/>
            <a:chOff x="946383" y="2021535"/>
            <a:chExt cx="8845998" cy="4790769"/>
          </a:xfrm>
        </p:grpSpPr>
        <p:sp>
          <p:nvSpPr>
            <p:cNvPr id="4" name="직사각형 3"/>
            <p:cNvSpPr/>
            <p:nvPr/>
          </p:nvSpPr>
          <p:spPr>
            <a:xfrm>
              <a:off x="946384" y="202153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Index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925790" y="202153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Main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946383" y="287138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Register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905196" y="287138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Board Write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905196" y="202153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Board Read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905193" y="372123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Follow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905192" y="457108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Playlist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905191" y="542093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MyPage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905190" y="627078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Search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659628" y="2026792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Board Reply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659628" y="2710014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Like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659628" y="3402146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Board Delete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20" name="직선 화살표 연결선 19"/>
            <p:cNvCxnSpPr/>
            <p:nvPr/>
          </p:nvCxnSpPr>
          <p:spPr>
            <a:xfrm>
              <a:off x="2079137" y="2195473"/>
              <a:ext cx="846653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>
              <a:stCxn id="6" idx="3"/>
              <a:endCxn id="9" idx="1"/>
            </p:cNvCxnSpPr>
            <p:nvPr/>
          </p:nvCxnSpPr>
          <p:spPr>
            <a:xfrm>
              <a:off x="4058543" y="2292295"/>
              <a:ext cx="846653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>
              <a:stCxn id="9" idx="3"/>
              <a:endCxn id="14" idx="1"/>
            </p:cNvCxnSpPr>
            <p:nvPr/>
          </p:nvCxnSpPr>
          <p:spPr>
            <a:xfrm>
              <a:off x="6037949" y="2292295"/>
              <a:ext cx="2621679" cy="5257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/>
            <p:cNvCxnSpPr>
              <a:stCxn id="4" idx="2"/>
              <a:endCxn id="7" idx="0"/>
            </p:cNvCxnSpPr>
            <p:nvPr/>
          </p:nvCxnSpPr>
          <p:spPr>
            <a:xfrm flipH="1">
              <a:off x="1512760" y="2563054"/>
              <a:ext cx="1" cy="308331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endCxn id="13" idx="1"/>
            </p:cNvCxnSpPr>
            <p:nvPr/>
          </p:nvCxnSpPr>
          <p:spPr>
            <a:xfrm rot="16200000" flipH="1">
              <a:off x="2474120" y="4110474"/>
              <a:ext cx="4249251" cy="612889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>
              <a:endCxn id="8" idx="1"/>
            </p:cNvCxnSpPr>
            <p:nvPr/>
          </p:nvCxnSpPr>
          <p:spPr>
            <a:xfrm>
              <a:off x="4292296" y="3142145"/>
              <a:ext cx="61290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/>
            <p:nvPr/>
          </p:nvCxnSpPr>
          <p:spPr>
            <a:xfrm>
              <a:off x="4292296" y="3991999"/>
              <a:ext cx="61290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/>
            <p:nvPr/>
          </p:nvCxnSpPr>
          <p:spPr>
            <a:xfrm>
              <a:off x="4292296" y="4841854"/>
              <a:ext cx="61290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/>
            <p:cNvCxnSpPr/>
            <p:nvPr/>
          </p:nvCxnSpPr>
          <p:spPr>
            <a:xfrm>
              <a:off x="4292296" y="5691709"/>
              <a:ext cx="61290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꺾인 연결선 50"/>
            <p:cNvCxnSpPr>
              <a:endCxn id="16" idx="1"/>
            </p:cNvCxnSpPr>
            <p:nvPr/>
          </p:nvCxnSpPr>
          <p:spPr>
            <a:xfrm rot="16200000" flipH="1">
              <a:off x="7684027" y="2697305"/>
              <a:ext cx="1380614" cy="570588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/>
            <p:cNvCxnSpPr>
              <a:endCxn id="15" idx="1"/>
            </p:cNvCxnSpPr>
            <p:nvPr/>
          </p:nvCxnSpPr>
          <p:spPr>
            <a:xfrm>
              <a:off x="8089040" y="2980773"/>
              <a:ext cx="570588" cy="1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/>
            <p:cNvCxnSpPr/>
            <p:nvPr/>
          </p:nvCxnSpPr>
          <p:spPr>
            <a:xfrm flipH="1">
              <a:off x="2079137" y="2378359"/>
              <a:ext cx="846653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/>
            <p:cNvSpPr/>
            <p:nvPr/>
          </p:nvSpPr>
          <p:spPr>
            <a:xfrm>
              <a:off x="6604319" y="372123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Following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6608537" y="2899159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Follower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7" name="꺾인 연결선 66"/>
            <p:cNvCxnSpPr>
              <a:endCxn id="63" idx="1"/>
            </p:cNvCxnSpPr>
            <p:nvPr/>
          </p:nvCxnSpPr>
          <p:spPr>
            <a:xfrm rot="5400000" flipH="1" flipV="1">
              <a:off x="6045221" y="3428679"/>
              <a:ext cx="822076" cy="304556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/>
            <p:cNvCxnSpPr>
              <a:stCxn id="10" idx="3"/>
              <a:endCxn id="62" idx="1"/>
            </p:cNvCxnSpPr>
            <p:nvPr/>
          </p:nvCxnSpPr>
          <p:spPr>
            <a:xfrm>
              <a:off x="6037946" y="3991995"/>
              <a:ext cx="566373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직사각형 76"/>
            <p:cNvSpPr/>
            <p:nvPr/>
          </p:nvSpPr>
          <p:spPr>
            <a:xfrm>
              <a:off x="6604318" y="4571085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Playlist Remove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직선 화살표 연결선 77"/>
            <p:cNvCxnSpPr/>
            <p:nvPr/>
          </p:nvCxnSpPr>
          <p:spPr>
            <a:xfrm>
              <a:off x="6037946" y="4852606"/>
              <a:ext cx="566373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/>
            <p:cNvSpPr/>
            <p:nvPr/>
          </p:nvSpPr>
          <p:spPr>
            <a:xfrm>
              <a:off x="8659627" y="4731336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User Info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8659628" y="5420016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User Update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8659627" y="6108696"/>
              <a:ext cx="1132753" cy="54151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User Update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83" name="직선 화살표 연결선 82"/>
            <p:cNvCxnSpPr>
              <a:stCxn id="12" idx="3"/>
              <a:endCxn id="80" idx="1"/>
            </p:cNvCxnSpPr>
            <p:nvPr/>
          </p:nvCxnSpPr>
          <p:spPr>
            <a:xfrm flipV="1">
              <a:off x="6037944" y="5690776"/>
              <a:ext cx="2621684" cy="919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endCxn id="79" idx="1"/>
            </p:cNvCxnSpPr>
            <p:nvPr/>
          </p:nvCxnSpPr>
          <p:spPr>
            <a:xfrm rot="5400000" flipH="1" flipV="1">
              <a:off x="8102442" y="5129254"/>
              <a:ext cx="684342" cy="430027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꺾인 연결선 86"/>
            <p:cNvCxnSpPr>
              <a:endCxn id="81" idx="1"/>
            </p:cNvCxnSpPr>
            <p:nvPr/>
          </p:nvCxnSpPr>
          <p:spPr>
            <a:xfrm rot="16200000" flipH="1">
              <a:off x="8098106" y="5817934"/>
              <a:ext cx="693015" cy="430028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775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역할 분담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윤진성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전체적인 프로젝트 총괄</a:t>
            </a:r>
            <a:r>
              <a:rPr lang="en-US" altLang="ko-KR" dirty="0"/>
              <a:t>.</a:t>
            </a:r>
            <a:r>
              <a:rPr lang="en-US" altLang="ko-KR" dirty="0" smtClean="0"/>
              <a:t> JSP,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JavaSctript</a:t>
            </a:r>
            <a:r>
              <a:rPr lang="en-US" altLang="ko-KR" dirty="0" smtClean="0"/>
              <a:t>, CSS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김지원 </a:t>
            </a:r>
            <a:r>
              <a:rPr lang="en-US" altLang="ko-KR" dirty="0" smtClean="0"/>
              <a:t>– Dao, Database, Service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박형준 </a:t>
            </a:r>
            <a:r>
              <a:rPr lang="en-US" altLang="ko-KR" dirty="0" smtClean="0"/>
              <a:t>– Main Design, JSP, CSS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백인호 </a:t>
            </a:r>
            <a:r>
              <a:rPr lang="en-US" altLang="ko-KR" dirty="0"/>
              <a:t>–</a:t>
            </a:r>
            <a:r>
              <a:rPr lang="en-US" altLang="ko-KR" dirty="0" smtClean="0"/>
              <a:t> Controller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Service</a:t>
            </a:r>
            <a:r>
              <a:rPr lang="ko-KR" altLang="en-US" dirty="0" smtClean="0"/>
              <a:t> 구현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이영찬 </a:t>
            </a:r>
            <a:r>
              <a:rPr lang="en-US" altLang="ko-KR" dirty="0" smtClean="0"/>
              <a:t>– Bean(DTO), JSP, </a:t>
            </a:r>
            <a:r>
              <a:rPr lang="ko-KR" altLang="en-US" dirty="0" smtClean="0"/>
              <a:t>자료조사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76179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744" y="270536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감사합니다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725214" y="357352"/>
            <a:ext cx="987972" cy="557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66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-윤고딕330"/>
        <a:ea typeface="-윤고딕330"/>
        <a:cs typeface=""/>
      </a:majorFont>
      <a:minorFont>
        <a:latin typeface="-윤고딕330"/>
        <a:ea typeface="-윤고딕33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528</Words>
  <Application>Microsoft Office PowerPoint</Application>
  <PresentationFormat>와이드스크린</PresentationFormat>
  <Paragraphs>251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-윤고딕350</vt:lpstr>
      <vt:lpstr>Arial</vt:lpstr>
      <vt:lpstr>맑은 고딕</vt:lpstr>
      <vt:lpstr>-윤고딕330</vt:lpstr>
      <vt:lpstr>Office 테마</vt:lpstr>
      <vt:lpstr>RainbowTrack</vt:lpstr>
      <vt:lpstr>목차</vt:lpstr>
      <vt:lpstr>프로젝트 개요</vt:lpstr>
      <vt:lpstr>프로젝트 주제</vt:lpstr>
      <vt:lpstr>RainbowTrack 이란?</vt:lpstr>
      <vt:lpstr>RainbowTrack</vt:lpstr>
      <vt:lpstr>Main, Sub Color</vt:lpstr>
      <vt:lpstr>유사 사이트</vt:lpstr>
      <vt:lpstr>유사 사이트</vt:lpstr>
      <vt:lpstr>사이트 비교</vt:lpstr>
      <vt:lpstr>개발 환경</vt:lpstr>
      <vt:lpstr>개발 언어</vt:lpstr>
      <vt:lpstr>개발 도구</vt:lpstr>
      <vt:lpstr>개발 계획</vt:lpstr>
      <vt:lpstr>개발 계획</vt:lpstr>
      <vt:lpstr>주요 기능</vt:lpstr>
      <vt:lpstr>개발 인력</vt:lpstr>
      <vt:lpstr>개발 일정</vt:lpstr>
      <vt:lpstr>개발 일정</vt:lpstr>
      <vt:lpstr>WorkFlow</vt:lpstr>
      <vt:lpstr>역할 분담</vt:lpstr>
      <vt:lpstr>감사합니다.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SoundTrack</dc:title>
  <dc:creator>jiwonKim</dc:creator>
  <cp:lastModifiedBy>user</cp:lastModifiedBy>
  <cp:revision>49</cp:revision>
  <dcterms:created xsi:type="dcterms:W3CDTF">2017-04-17T07:07:36Z</dcterms:created>
  <dcterms:modified xsi:type="dcterms:W3CDTF">2017-05-08T06:12:19Z</dcterms:modified>
</cp:coreProperties>
</file>